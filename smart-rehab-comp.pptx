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Anta" panose="020B0604020202020204" charset="0"/>
      <p:regular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Y+pvYDIL0mHXWmlIJM+kSddt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kar M" userId="ed00326d7eb02717" providerId="LiveId" clId="{746E27E0-EB4F-4D8C-AAA4-7D14D9A4C0A5}"/>
    <pc:docChg chg="modSld">
      <pc:chgData name="Shankar M" userId="ed00326d7eb02717" providerId="LiveId" clId="{746E27E0-EB4F-4D8C-AAA4-7D14D9A4C0A5}" dt="2025-11-17T07:53:31.477" v="46" actId="6549"/>
      <pc:docMkLst>
        <pc:docMk/>
      </pc:docMkLst>
      <pc:sldChg chg="modSp mod">
        <pc:chgData name="Shankar M" userId="ed00326d7eb02717" providerId="LiveId" clId="{746E27E0-EB4F-4D8C-AAA4-7D14D9A4C0A5}" dt="2025-11-17T07:53:31.477" v="46" actId="6549"/>
        <pc:sldMkLst>
          <pc:docMk/>
          <pc:sldMk cId="0" sldId="256"/>
        </pc:sldMkLst>
        <pc:spChg chg="mod">
          <ac:chgData name="Shankar M" userId="ed00326d7eb02717" providerId="LiveId" clId="{746E27E0-EB4F-4D8C-AAA4-7D14D9A4C0A5}" dt="2025-11-17T07:53:31.477" v="46" actId="6549"/>
          <ac:spMkLst>
            <pc:docMk/>
            <pc:sldMk cId="0" sldId="256"/>
            <ac:spMk id="1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NOTE: </a:t>
            </a:r>
            <a:r>
              <a:rPr lang="en-US" sz="1200"/>
              <a:t>Want a different image on this slide? Select the picture and delete it. Now click the Pictures icon in the placeholder to insert your own image.</a:t>
            </a: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204fdf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204fdfb2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41204fdfb2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1204fdfb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1204fdfb2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41204fdfb2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1204fdfb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1204fdfb2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41204fdfb2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Picture">
  <p:cSld name="Title Slide with Pictu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1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20" name="Google Shape;20;p11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1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2" name="Google Shape;22;p11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23" name="Google Shape;23;p11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1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" name="Google Shape;25;p11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nta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 title="An empty placeholder to add an image. Click on the placeholder and select the image that you wish to add"/>
          <p:cNvSpPr>
            <a:spLocks noGrp="1"/>
          </p:cNvSpPr>
          <p:nvPr>
            <p:ph type="pic" idx="2"/>
          </p:nvPr>
        </p:nvSpPr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sp>
      <p:sp>
        <p:nvSpPr>
          <p:cNvPr id="29" name="Google Shape;29;p11"/>
          <p:cNvSpPr txBox="1"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0" name="Google Shape;30;p11" title="Ribbon tab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61722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4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nta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14" title="Ribbon tab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6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59" name="Google Shape;59;p16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60" name="Google Shape;60;p16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16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62" name="Google Shape;62;p16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" name="Google Shape;63;p16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64" name="Google Shape;64;p16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16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nta"/>
              <a:buNone/>
              <a:defRPr sz="4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2000"/>
              <a:buNone/>
              <a:defRPr sz="2000">
                <a:solidFill>
                  <a:srgbClr val="9693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800"/>
              <a:buNone/>
              <a:defRPr sz="1800">
                <a:solidFill>
                  <a:srgbClr val="9693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6" title="Ribbon tab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5880" y="0"/>
            <a:ext cx="1783188" cy="2971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2"/>
          </p:nvPr>
        </p:nvSpPr>
        <p:spPr>
          <a:xfrm>
            <a:off x="110490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3"/>
          </p:nvPr>
        </p:nvSpPr>
        <p:spPr>
          <a:xfrm>
            <a:off x="616611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4"/>
          </p:nvPr>
        </p:nvSpPr>
        <p:spPr>
          <a:xfrm>
            <a:off x="616611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t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5641848" y="1600199"/>
            <a:ext cx="5445252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marL="914400" lvl="1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1104900" y="1600200"/>
            <a:ext cx="438454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t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 title="An empty placeholder to add an image. Click on the placeholder and select the image that you wish to add"/>
          <p:cNvSpPr>
            <a:spLocks noGrp="1"/>
          </p:cNvSpPr>
          <p:nvPr>
            <p:ph type="pic" idx="2"/>
          </p:nvPr>
        </p:nvSpPr>
        <p:spPr>
          <a:xfrm>
            <a:off x="4654671" y="1600199"/>
            <a:ext cx="6430912" cy="4572001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339699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 rot="5400000">
            <a:off x="3810000" y="-1104900"/>
            <a:ext cx="4572000" cy="99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 rot="5400000">
            <a:off x="7323931" y="2413794"/>
            <a:ext cx="5811838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 rot="5400000">
            <a:off x="2248429" y="-778404"/>
            <a:ext cx="5811838" cy="80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22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113" name="Google Shape;113;p22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2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  <a:defRPr sz="2800" b="0" i="0" u="none" strike="noStrike" cap="none">
                <a:solidFill>
                  <a:schemeClr val="dk1"/>
                </a:solidFill>
                <a:latin typeface="Anta"/>
                <a:ea typeface="Anta"/>
                <a:cs typeface="Anta"/>
                <a:sym typeface="An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" name="Google Shape;15;p10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6" name="Google Shape;16;p10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10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809932" y="2319154"/>
            <a:ext cx="5734050" cy="221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nta"/>
              <a:buNone/>
            </a:pPr>
            <a:r>
              <a:rPr lang="en-US"/>
              <a:t>SMART REHAB COMPANION</a:t>
            </a:r>
            <a:endParaRPr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809932" y="4511785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rPr lang="en-US" sz="24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Affordable Assist Devices for </a:t>
            </a:r>
            <a:endParaRPr sz="240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rPr lang="en-US" sz="24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Health Care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809932" y="6144028"/>
            <a:ext cx="10423071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3"/>
              </a:buClr>
              <a:buSzPts val="1800"/>
              <a:buFont typeface="Noto Sans Symbols"/>
              <a:buNone/>
            </a:pPr>
            <a:r>
              <a:rPr lang="en-US" sz="1800" dirty="0">
                <a:solidFill>
                  <a:srgbClr val="FFFFF3"/>
                </a:solidFill>
              </a:rPr>
              <a:t>SHANKAR M</a:t>
            </a:r>
            <a:r>
              <a:rPr lang="en-US" sz="1800" b="0" i="0" u="none" strike="noStrike" cap="none" dirty="0">
                <a:solidFill>
                  <a:srgbClr val="FFFFF3"/>
                </a:solidFill>
                <a:latin typeface="Arial"/>
                <a:ea typeface="Arial"/>
                <a:cs typeface="Arial"/>
                <a:sym typeface="Arial"/>
              </a:rPr>
              <a:t> |  </a:t>
            </a:r>
            <a:r>
              <a:rPr lang="en-US" sz="1800" dirty="0">
                <a:solidFill>
                  <a:srgbClr val="FFFFF3"/>
                </a:solidFill>
              </a:rPr>
              <a:t>HARI VENKATESH R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3"/>
              </a:buClr>
              <a:buSzPts val="1800"/>
              <a:buFont typeface="Noto Sans Symbols"/>
              <a:buNone/>
            </a:pPr>
            <a:endParaRPr dirty="0"/>
          </a:p>
        </p:txBody>
      </p:sp>
      <p:sp>
        <p:nvSpPr>
          <p:cNvPr id="123" name="Google Shape;123;p1"/>
          <p:cNvSpPr txBox="1"/>
          <p:nvPr/>
        </p:nvSpPr>
        <p:spPr>
          <a:xfrm>
            <a:off x="3282043" y="355091"/>
            <a:ext cx="10423071" cy="95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3"/>
              </a:buClr>
              <a:buSzPts val="1800"/>
              <a:buFont typeface="Noto Sans Symbols"/>
              <a:buNone/>
            </a:pP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rgbClr val="FFFF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403350"/>
            <a:ext cx="6096001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</a:pPr>
            <a:r>
              <a:rPr lang="en-US" b="1"/>
              <a:t>Problem Statement</a:t>
            </a:r>
            <a:endParaRPr b="1"/>
          </a:p>
        </p:txBody>
      </p:sp>
      <p:sp>
        <p:nvSpPr>
          <p:cNvPr id="130" name="Google Shape;130;p3"/>
          <p:cNvSpPr txBox="1">
            <a:spLocks noGrp="1"/>
          </p:cNvSpPr>
          <p:nvPr>
            <p:ph type="body" idx="2"/>
          </p:nvPr>
        </p:nvSpPr>
        <p:spPr>
          <a:xfrm>
            <a:off x="986650" y="1600200"/>
            <a:ext cx="10098900" cy="48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000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00"/>
              <a:buChar char="▪"/>
            </a:pPr>
            <a:r>
              <a:rPr lang="en-US" sz="2700">
                <a:solidFill>
                  <a:schemeClr val="dk2"/>
                </a:solidFill>
              </a:rPr>
              <a:t>Patients face challenges like inconsistent therapy and reliance on human therapists, which slows recovery. 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▪"/>
            </a:pPr>
            <a:r>
              <a:rPr lang="en-US" sz="2700">
                <a:solidFill>
                  <a:schemeClr val="dk2"/>
                </a:solidFill>
              </a:rPr>
              <a:t>So,there is a need of a hardware-based rehabilitation device for specific body parts like arms, hands, legs etc. which can deliver automated therapy 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▪"/>
            </a:pPr>
            <a:r>
              <a:rPr lang="en-US" sz="2700">
                <a:solidFill>
                  <a:schemeClr val="dk2"/>
                </a:solidFill>
              </a:rPr>
              <a:t>Moreover it should be scalable, energy efficient, and easy to use and cost effective. </a:t>
            </a:r>
            <a:endParaRPr sz="27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2"/>
                </a:solidFill>
              </a:rPr>
              <a:t> Key Problem:</a:t>
            </a:r>
            <a:br>
              <a:rPr lang="en-US" sz="2500" b="1">
                <a:solidFill>
                  <a:schemeClr val="dk2"/>
                </a:solidFill>
              </a:rPr>
            </a:br>
            <a:r>
              <a:rPr lang="en-US" sz="2500">
                <a:solidFill>
                  <a:schemeClr val="dk2"/>
                </a:solidFill>
              </a:rPr>
              <a:t> </a:t>
            </a:r>
            <a:r>
              <a:rPr lang="en-US" sz="2500" b="1" i="1" u="sng">
                <a:solidFill>
                  <a:schemeClr val="dk2"/>
                </a:solidFill>
              </a:rPr>
              <a:t>“Patients struggle with therapy consistency &amp; progress tracking.”</a:t>
            </a:r>
            <a:endParaRPr sz="2500" b="1" i="1" u="sng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700" b="1" u="sng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</a:pPr>
            <a:r>
              <a:rPr lang="en-US"/>
              <a:t>Solution Proposal</a:t>
            </a: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78200" y="1600200"/>
            <a:ext cx="6357600" cy="49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2"/>
                </a:solidFill>
              </a:rPr>
              <a:t>Smart Rehabilitation Companion</a:t>
            </a:r>
            <a:r>
              <a:rPr lang="en-US" sz="2300">
                <a:solidFill>
                  <a:schemeClr val="dk2"/>
                </a:solidFill>
              </a:rPr>
              <a:t>: A wearable &amp; interactive rehab system, which exclusively consists of 4 components. </a:t>
            </a:r>
            <a:endParaRPr sz="2300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Wearable Band, that tracks the muscle movement and its activation.</a:t>
            </a:r>
            <a:endParaRPr sz="2300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A Handheld Device that determines the Grip Strength of the patient. </a:t>
            </a:r>
            <a:endParaRPr sz="2300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Master Board is the Control and Display Unit of the system.</a:t>
            </a:r>
            <a:endParaRPr sz="2300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Mobile App– Remote monitoring for physiotherapists using IOT.</a:t>
            </a:r>
            <a:endParaRPr sz="2300">
              <a:solidFill>
                <a:schemeClr val="dk2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l="17382"/>
          <a:stretch/>
        </p:blipFill>
        <p:spPr>
          <a:xfrm>
            <a:off x="7370175" y="4771125"/>
            <a:ext cx="2786874" cy="16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 title="mb_cc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9775" y="1548088"/>
            <a:ext cx="2617275" cy="2848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9368125" y="2774113"/>
            <a:ext cx="26172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         Master Board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0253250" y="5157925"/>
            <a:ext cx="16677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Wearable    Band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1204fdfb2_0_10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Circuit Diagram</a:t>
            </a:r>
            <a:endParaRPr/>
          </a:p>
        </p:txBody>
      </p:sp>
      <p:pic>
        <p:nvPicPr>
          <p:cNvPr id="147" name="Google Shape;147;g341204fdfb2_0_10" title="Screenshot 2025-03-17 1943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876" y="1410037"/>
            <a:ext cx="9742248" cy="524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1204fdfb2_0_18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 Diagram</a:t>
            </a:r>
            <a:endParaRPr/>
          </a:p>
        </p:txBody>
      </p:sp>
      <p:pic>
        <p:nvPicPr>
          <p:cNvPr id="154" name="Google Shape;154;g341204fdfb2_0_18" title="Architect_ccp.jpg"/>
          <p:cNvPicPr preferRelativeResize="0"/>
          <p:nvPr/>
        </p:nvPicPr>
        <p:blipFill rotWithShape="1">
          <a:blip r:embed="rId3">
            <a:alphaModFix/>
          </a:blip>
          <a:srcRect l="2107" t="8294" r="2107" b="13304"/>
          <a:stretch/>
        </p:blipFill>
        <p:spPr>
          <a:xfrm>
            <a:off x="1059163" y="1436925"/>
            <a:ext cx="10073674" cy="4966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1204fdfb2_0_26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 Diagram</a:t>
            </a:r>
            <a:endParaRPr/>
          </a:p>
        </p:txBody>
      </p:sp>
      <p:pic>
        <p:nvPicPr>
          <p:cNvPr id="161" name="Google Shape;161;g341204fdfb2_0_26" title="block_ccp.jpg"/>
          <p:cNvPicPr preferRelativeResize="0"/>
          <p:nvPr/>
        </p:nvPicPr>
        <p:blipFill rotWithShape="1">
          <a:blip r:embed="rId3">
            <a:alphaModFix/>
          </a:blip>
          <a:srcRect l="7801" t="14094" r="7860" b="13067"/>
          <a:stretch/>
        </p:blipFill>
        <p:spPr>
          <a:xfrm>
            <a:off x="1227050" y="1367375"/>
            <a:ext cx="9980701" cy="513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</a:pPr>
            <a:r>
              <a:rPr lang="en-US"/>
              <a:t>Impact, Challenges &amp; Drawbacks</a:t>
            </a:r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0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2"/>
                </a:solidFill>
              </a:rPr>
              <a:t>Impact:</a:t>
            </a:r>
            <a:endParaRPr sz="2300" b="1">
              <a:solidFill>
                <a:schemeClr val="dk2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It reduces the no.of clinical visits, so that the hassle of the patients is being reduced directly. </a:t>
            </a:r>
            <a:endParaRPr sz="2300">
              <a:solidFill>
                <a:schemeClr val="dk2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AutoNum type="arabicPeriod"/>
            </a:pPr>
            <a:r>
              <a:rPr lang="en-US" sz="2300">
                <a:solidFill>
                  <a:schemeClr val="dk2"/>
                </a:solidFill>
              </a:rPr>
              <a:t>Also, it facilitates the physiotherapists to concentrate more on critical patients, As the acute patients were monitored by this companion seamlessly. 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2"/>
                </a:solidFill>
              </a:rPr>
              <a:t>Challenges: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Signal Noise in EMG sensor and Data Synchronization (seamless communication between wearable, master board &amp; cloud)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2"/>
                </a:solidFill>
              </a:rPr>
              <a:t>Drawbacks: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The device can monitor muscle activation for a few set of exercises only, as it is developed as prototype. 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</a:pPr>
            <a:r>
              <a:rPr lang="en-US"/>
              <a:t>Conclusion &amp; Future Scope</a:t>
            </a:r>
            <a:endParaRPr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➔"/>
            </a:pPr>
            <a:r>
              <a:rPr lang="en-US" sz="2300">
                <a:solidFill>
                  <a:schemeClr val="dk2"/>
                </a:solidFill>
              </a:rPr>
              <a:t>Our prototype demonstrates a robust foundation for accessible rehabilitation.</a:t>
            </a:r>
            <a:endParaRPr sz="2300">
              <a:solidFill>
                <a:schemeClr val="dk2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➔"/>
            </a:pPr>
            <a:r>
              <a:rPr lang="en-US" sz="2300">
                <a:solidFill>
                  <a:schemeClr val="dk2"/>
                </a:solidFill>
              </a:rPr>
              <a:t>Future improvements: AI-driven exercise adaptation as a gamified version, expanded sensor capabilities, and lower-cost manufacturing.</a:t>
            </a:r>
            <a:endParaRPr sz="2300">
              <a:solidFill>
                <a:schemeClr val="dk2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  <p:pic>
        <p:nvPicPr>
          <p:cNvPr id="174" name="Google Shape;17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075" y="1813275"/>
            <a:ext cx="4816599" cy="361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/>
        </p:nvSpPr>
        <p:spPr>
          <a:xfrm>
            <a:off x="3603522" y="2521663"/>
            <a:ext cx="498495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Widescreen</PresentationFormat>
  <Paragraphs>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Anta</vt:lpstr>
      <vt:lpstr>Times New Roman</vt:lpstr>
      <vt:lpstr>Roboto</vt:lpstr>
      <vt:lpstr>Noto Sans Symbols</vt:lpstr>
      <vt:lpstr>Arial</vt:lpstr>
      <vt:lpstr>Custom</vt:lpstr>
      <vt:lpstr>SMART REHAB COMPANION</vt:lpstr>
      <vt:lpstr>Problem Statement</vt:lpstr>
      <vt:lpstr>Solution Proposal</vt:lpstr>
      <vt:lpstr>Circuit Diagram</vt:lpstr>
      <vt:lpstr>Architecture Diagram</vt:lpstr>
      <vt:lpstr>Block Diagram</vt:lpstr>
      <vt:lpstr>Impact, Challenges &amp; Drawbacks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SANJAY RAM S</dc:creator>
  <cp:lastModifiedBy>Shankar M</cp:lastModifiedBy>
  <cp:revision>1</cp:revision>
  <dcterms:created xsi:type="dcterms:W3CDTF">2024-12-26T18:15:39Z</dcterms:created>
  <dcterms:modified xsi:type="dcterms:W3CDTF">2025-11-17T07:53:33Z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